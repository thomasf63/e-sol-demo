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Fichier généré par scripts/build-pptx.py (dépôt e-sol-demo). La source de chaque schéma est indiquée dans les notes de sa diapositive.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: src/components/illustration-roles.html (dépôt e-sol-demo).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: src/components/diagram-gouvernance.md, section « Variante simplifiée » (dépôt e-sol-demo).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: src/components/diagram-roles-droits.md, section « Vue communauté » (dépôt e-sol-demo). Note de lecture : src/pages/roles-et-droits.html.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: src/components/illustration-premiers-pas.html (dépôt e-sol-demo).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: src/data/communities.json (dépôt e-sol-demo) ; composition inspirée de src/components/illustration-village.html. Le dessin illustré complet reste publié en PNG (src/img/portage/village-esol.png).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: src/components/head.html (tokens CSS du design system e-Sol).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7863840" cy="68580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9C3F00"/>
                </a:solidFill>
                <a:latin typeface="Outfit"/>
              </a:rPr>
              <a:t>Schémas e-Sol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8595360" cy="36576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B5C54"/>
                </a:solidFill>
                <a:latin typeface="Inter"/>
              </a:rPr>
              <a:t>Cinq schémas éditables, contrepartie des visuels SVG et Mermaid de la maquette e-sol-demo.</a:t>
            </a:r>
          </a:p>
        </p:txBody>
      </p:sp>
      <p:sp>
        <p:nvSpPr>
          <p:cNvPr id="4" name="Rectangle 3"/>
          <p:cNvSpPr/>
          <p:nvPr/>
        </p:nvSpPr>
        <p:spPr>
          <a:xfrm>
            <a:off x="9418320" y="1508760"/>
            <a:ext cx="402336" cy="274320"/>
          </a:xfrm>
          <a:prstGeom prst="rect">
            <a:avLst/>
          </a:prstGeom>
          <a:solidFill>
            <a:srgbClr val="F3EFEC"/>
          </a:solidFill>
          <a:ln w="12700">
            <a:solidFill>
              <a:srgbClr val="8C71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20656" y="1508760"/>
            <a:ext cx="402336" cy="274320"/>
          </a:xfrm>
          <a:prstGeom prst="rect">
            <a:avLst/>
          </a:prstGeom>
          <a:solidFill>
            <a:srgbClr val="EEEEF8"/>
          </a:solidFill>
          <a:ln w="12700">
            <a:solidFill>
              <a:srgbClr val="4E4E8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22992" y="1508760"/>
            <a:ext cx="402336" cy="274320"/>
          </a:xfrm>
          <a:prstGeom prst="rect">
            <a:avLst/>
          </a:prstGeom>
          <a:solidFill>
            <a:srgbClr val="FFDBCC"/>
          </a:solidFill>
          <a:ln w="12700">
            <a:solidFill>
              <a:srgbClr val="9C3F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25328" y="1508760"/>
            <a:ext cx="402336" cy="274320"/>
          </a:xfrm>
          <a:prstGeom prst="rect">
            <a:avLst/>
          </a:prstGeom>
          <a:solidFill>
            <a:srgbClr val="DBE9A9"/>
          </a:solidFill>
          <a:ln w="12700">
            <a:solidFill>
              <a:srgbClr val="5863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27664" y="1508760"/>
            <a:ext cx="402336" cy="274320"/>
          </a:xfrm>
          <a:prstGeom prst="rect">
            <a:avLst/>
          </a:prstGeom>
          <a:solidFill>
            <a:srgbClr val="9C3F00"/>
          </a:solidFill>
          <a:ln w="12700">
            <a:solidFill>
              <a:srgbClr val="7A3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331720"/>
            <a:ext cx="52578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D9C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96312"/>
            <a:ext cx="4800600" cy="292608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A1512"/>
                </a:solidFill>
                <a:latin typeface="Outfit"/>
              </a:rPr>
              <a:t>À quoi sert ce fichier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34639"/>
            <a:ext cx="4800600" cy="114300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5C54"/>
                </a:solidFill>
                <a:latin typeface="Inter"/>
              </a:rPr>
              <a:t>La version modifiable des schémas de la maquette : les mêmes contenus, en formes natives que chacun·e peut retoucher sans coder, dans PowerPoint comme dans Google Slides.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331720"/>
            <a:ext cx="52578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D9C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2496312"/>
            <a:ext cx="4800600" cy="292608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A1512"/>
                </a:solidFill>
                <a:latin typeface="Outfit"/>
              </a:rPr>
              <a:t>Comment éditer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834639"/>
            <a:ext cx="4800600" cy="114300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5C54"/>
                </a:solidFill>
                <a:latin typeface="Inter"/>
              </a:rPr>
              <a:t>Cliquer sur une forme pour corriger son texte ; la glisser pour la déplacer ; tirer les poignées pour la redimensionner. Les couleurs et leurs correspondances sont rappelées en dernière diapositive.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34840"/>
            <a:ext cx="52578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D9C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99431"/>
            <a:ext cx="4800600" cy="292608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A1512"/>
                </a:solidFill>
                <a:latin typeface="Outfit"/>
              </a:rPr>
              <a:t>Polices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937759"/>
            <a:ext cx="4800600" cy="114300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5C54"/>
                </a:solidFill>
                <a:latin typeface="Inter"/>
              </a:rPr>
              <a:t>Titres en Outfit, textes en Inter (Google Fonts, licence libre OFL). Google Slides les propose d'origine ; dans PowerPoint, installer les deux familles pour un rendu fidèle. Sans elles, une police de substitution s'affiche et la mise en page est prévue pour le supporter.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4434840"/>
            <a:ext cx="52578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D9C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4599431"/>
            <a:ext cx="4800600" cy="292608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A1512"/>
                </a:solidFill>
                <a:latin typeface="Outfit"/>
              </a:rPr>
              <a:t>Licence et 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937759"/>
            <a:ext cx="4800600" cy="114300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5C54"/>
                </a:solidFill>
                <a:latin typeface="Inter"/>
              </a:rPr>
              <a:t>Contenu sous licence CC BY-SA. Source : dépôt e-sol-demo ; le fichier d'origine de chaque schéma est indiqué dans les commentaires du présentateur de sa diapositive.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10546049" cy="27432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5C54"/>
                </a:solidFill>
                <a:latin typeface="Inter"/>
              </a:rPr>
              <a:t>e-Sol - réseau collaboratif pour la connaissance et la préservation des sols, porté par l'AFES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911809" cy="31089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9C3F00"/>
                </a:solidFill>
                <a:latin typeface="Outfit"/>
              </a:rPr>
              <a:t>LES CINQ NIVEAUX DE PARTICIPATION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12064"/>
            <a:ext cx="9997409" cy="256032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B5C54"/>
                </a:solidFill>
                <a:latin typeface="Inter"/>
              </a:rPr>
              <a:t>Chaque niveau conserve tous les droits du précédent : les droits s'additionnent.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559552"/>
            <a:ext cx="12191969" cy="365760"/>
          </a:xfrm>
          <a:prstGeom prst="rect">
            <a:avLst/>
          </a:prstGeom>
          <a:solidFill>
            <a:srgbClr val="6B5C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925312"/>
            <a:ext cx="12191969" cy="64008"/>
          </a:xfrm>
          <a:prstGeom prst="rect">
            <a:avLst/>
          </a:prstGeom>
          <a:solidFill>
            <a:srgbClr val="5A483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23560"/>
            <a:ext cx="10363169" cy="256032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DFBF9"/>
                </a:solidFill>
                <a:latin typeface="Outfit"/>
              </a:rPr>
              <a:t>LE SOL DU VILLAGE - LA CHARTE S'APPLIQUE À TOUS LES NIVEAUX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212080"/>
            <a:ext cx="12191969" cy="347471"/>
          </a:xfrm>
          <a:prstGeom prst="rect">
            <a:avLst/>
          </a:prstGeom>
          <a:solidFill>
            <a:srgbClr val="C4AA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55404" y="4160520"/>
            <a:ext cx="64008" cy="1188720"/>
          </a:xfrm>
          <a:prstGeom prst="rect">
            <a:avLst/>
          </a:prstGeom>
          <a:solidFill>
            <a:srgbClr val="7057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59692" y="4160520"/>
            <a:ext cx="64008" cy="1188720"/>
          </a:xfrm>
          <a:prstGeom prst="rect">
            <a:avLst/>
          </a:prstGeom>
          <a:solidFill>
            <a:srgbClr val="7057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63980" y="4160520"/>
            <a:ext cx="64008" cy="1188720"/>
          </a:xfrm>
          <a:prstGeom prst="rect">
            <a:avLst/>
          </a:prstGeom>
          <a:solidFill>
            <a:srgbClr val="7057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68268" y="4160520"/>
            <a:ext cx="64008" cy="1188720"/>
          </a:xfrm>
          <a:prstGeom prst="rect">
            <a:avLst/>
          </a:prstGeom>
          <a:solidFill>
            <a:srgbClr val="7057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72556" y="4160520"/>
            <a:ext cx="64008" cy="1188720"/>
          </a:xfrm>
          <a:prstGeom prst="rect">
            <a:avLst/>
          </a:prstGeom>
          <a:solidFill>
            <a:srgbClr val="7057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848" y="1280160"/>
            <a:ext cx="2103120" cy="2880360"/>
          </a:xfrm>
          <a:prstGeom prst="rect">
            <a:avLst/>
          </a:prstGeom>
          <a:solidFill>
            <a:srgbClr val="F3EFEC"/>
          </a:solidFill>
          <a:ln w="25400">
            <a:solidFill>
              <a:srgbClr val="8C71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4720" y="1371600"/>
            <a:ext cx="310896" cy="310896"/>
          </a:xfrm>
          <a:prstGeom prst="ellipse">
            <a:avLst/>
          </a:prstGeom>
          <a:solidFill>
            <a:srgbClr val="8C7166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DFBF9"/>
                </a:solidFill>
                <a:latin typeface="Outfit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1336" y="1344168"/>
            <a:ext cx="1536191" cy="40233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5A4A42"/>
                </a:solidFill>
                <a:latin typeface="Outfit"/>
              </a:rPr>
              <a:t>Visiteur·euse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5A4A42"/>
                </a:solidFill>
                <a:latin typeface="Outfit"/>
              </a:rPr>
              <a:t>non inscrit·e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720" y="1828800"/>
            <a:ext cx="1865376" cy="182880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4A3F38"/>
                </a:solidFill>
                <a:latin typeface="Inter"/>
              </a:rPr>
              <a:t>pages publiques et annuaire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4A3F38"/>
                </a:solidFill>
                <a:latin typeface="Inter"/>
              </a:rPr>
              <a:t>lire le forum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4A3F38"/>
                </a:solidFill>
                <a:latin typeface="Inter"/>
              </a:rPr>
              <a:t>s'inscrire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1004" y="3790187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CFAF8"/>
          </a:solidFill>
          <a:ln w="12700">
            <a:solidFill>
              <a:srgbClr val="CFC3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2152" y="3831335"/>
            <a:ext cx="137160" cy="137160"/>
          </a:xfrm>
          <a:prstGeom prst="ellipse">
            <a:avLst/>
          </a:prstGeom>
          <a:solidFill>
            <a:srgbClr val="8C7166"/>
          </a:solidFill>
          <a:ln w="12700">
            <a:solidFill>
              <a:srgbClr val="FDFB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0136" y="1280160"/>
            <a:ext cx="2103120" cy="2880360"/>
          </a:xfrm>
          <a:prstGeom prst="rect">
            <a:avLst/>
          </a:prstGeom>
          <a:solidFill>
            <a:srgbClr val="EEEEF8"/>
          </a:solidFill>
          <a:ln w="25400">
            <a:solidFill>
              <a:srgbClr val="4E4E8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59008" y="1371600"/>
            <a:ext cx="310896" cy="310896"/>
          </a:xfrm>
          <a:prstGeom prst="ellipse">
            <a:avLst/>
          </a:prstGeom>
          <a:solidFill>
            <a:srgbClr val="4E4E88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DFBF9"/>
                </a:solidFill>
                <a:latin typeface="Outfit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15624" y="1344168"/>
            <a:ext cx="1536191" cy="40233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3D3D5C"/>
                </a:solidFill>
                <a:latin typeface="Outfit"/>
              </a:rPr>
              <a:t>Membre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3D3D5C"/>
                </a:solidFill>
                <a:latin typeface="Outfit"/>
              </a:rPr>
              <a:t>inscrit·e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9008" y="1828800"/>
            <a:ext cx="1865376" cy="182880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3D3D5C"/>
                </a:solidFill>
                <a:latin typeface="Inter"/>
              </a:rPr>
              <a:t>+ sa fiche dans l'annuaire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3D3D5C"/>
                </a:solidFill>
                <a:latin typeface="Inter"/>
              </a:rPr>
              <a:t>+ commenter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3D3D5C"/>
                </a:solidFill>
                <a:latin typeface="Inter"/>
              </a:rPr>
              <a:t>+ fiches action, annonces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3D3D5C"/>
                </a:solidFill>
                <a:latin typeface="Inter"/>
              </a:rPr>
              <a:t>+ rejoindre une communauté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45292" y="3790187"/>
            <a:ext cx="416051" cy="219456"/>
          </a:xfrm>
          <a:prstGeom prst="roundRect">
            <a:avLst>
              <a:gd name="adj" fmla="val 50000"/>
            </a:avLst>
          </a:prstGeom>
          <a:solidFill>
            <a:srgbClr val="FCFAF9"/>
          </a:solidFill>
          <a:ln w="12700">
            <a:solidFill>
              <a:srgbClr val="B6B6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886440" y="3831335"/>
            <a:ext cx="137160" cy="137160"/>
          </a:xfrm>
          <a:prstGeom prst="ellipse">
            <a:avLst/>
          </a:prstGeom>
          <a:solidFill>
            <a:srgbClr val="8C7166"/>
          </a:solidFill>
          <a:ln w="12700">
            <a:solidFill>
              <a:srgbClr val="FDFB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083036" y="3831335"/>
            <a:ext cx="137160" cy="137160"/>
          </a:xfrm>
          <a:prstGeom prst="ellipse">
            <a:avLst/>
          </a:prstGeom>
          <a:solidFill>
            <a:srgbClr val="4E4E88"/>
          </a:solidFill>
          <a:ln w="12700">
            <a:solidFill>
              <a:srgbClr val="FDFB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44424" y="1280160"/>
            <a:ext cx="2103120" cy="2880360"/>
          </a:xfrm>
          <a:prstGeom prst="rect">
            <a:avLst/>
          </a:prstGeom>
          <a:solidFill>
            <a:srgbClr val="FFDBCC"/>
          </a:solidFill>
          <a:ln w="25400">
            <a:solidFill>
              <a:srgbClr val="9C3F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63296" y="1371600"/>
            <a:ext cx="310896" cy="310896"/>
          </a:xfrm>
          <a:prstGeom prst="ellipse">
            <a:avLst/>
          </a:prstGeom>
          <a:solidFill>
            <a:srgbClr val="9C3F00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DFBF9"/>
                </a:solidFill>
                <a:latin typeface="Outfit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19912" y="1344168"/>
            <a:ext cx="1536191" cy="40233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7A3000"/>
                </a:solidFill>
                <a:latin typeface="Outfit"/>
              </a:rPr>
              <a:t>Membre d'une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7A3000"/>
                </a:solidFill>
                <a:latin typeface="Outfit"/>
              </a:rPr>
              <a:t>communauté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3296" y="1828800"/>
            <a:ext cx="1865376" cy="182880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7A3000"/>
                </a:solidFill>
                <a:latin typeface="Inter"/>
              </a:rPr>
              <a:t>+ espaces de sa communauté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7A3000"/>
                </a:solidFill>
                <a:latin typeface="Inter"/>
              </a:rPr>
              <a:t>+ documents, discussions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7A3000"/>
                </a:solidFill>
                <a:latin typeface="Inter"/>
              </a:rPr>
              <a:t>+ cercle restreint,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7A3000"/>
                </a:solidFill>
                <a:latin typeface="Inter"/>
              </a:rPr>
              <a:t>   si la communauté l'active *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49580" y="3790187"/>
            <a:ext cx="612647" cy="219456"/>
          </a:xfrm>
          <a:prstGeom prst="roundRect">
            <a:avLst>
              <a:gd name="adj" fmla="val 50000"/>
            </a:avLst>
          </a:prstGeom>
          <a:solidFill>
            <a:srgbClr val="FDF8F4"/>
          </a:solidFill>
          <a:ln w="12700">
            <a:solidFill>
              <a:srgbClr val="DCA4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90728" y="3831335"/>
            <a:ext cx="137160" cy="137160"/>
          </a:xfrm>
          <a:prstGeom prst="ellipse">
            <a:avLst/>
          </a:prstGeom>
          <a:solidFill>
            <a:srgbClr val="8C7166"/>
          </a:solidFill>
          <a:ln w="12700">
            <a:solidFill>
              <a:srgbClr val="FDFB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387324" y="3831335"/>
            <a:ext cx="137160" cy="137160"/>
          </a:xfrm>
          <a:prstGeom prst="ellipse">
            <a:avLst/>
          </a:prstGeom>
          <a:solidFill>
            <a:srgbClr val="4E4E88"/>
          </a:solidFill>
          <a:ln w="12700">
            <a:solidFill>
              <a:srgbClr val="FDFB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83920" y="3831335"/>
            <a:ext cx="137160" cy="137160"/>
          </a:xfrm>
          <a:prstGeom prst="ellipse">
            <a:avLst/>
          </a:prstGeom>
          <a:solidFill>
            <a:srgbClr val="9C3F00"/>
          </a:solidFill>
          <a:ln w="12700">
            <a:solidFill>
              <a:srgbClr val="FDFB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48712" y="1280160"/>
            <a:ext cx="2103120" cy="2880360"/>
          </a:xfrm>
          <a:prstGeom prst="rect">
            <a:avLst/>
          </a:prstGeom>
          <a:solidFill>
            <a:srgbClr val="DBE9A9"/>
          </a:solidFill>
          <a:ln w="25400">
            <a:solidFill>
              <a:srgbClr val="5863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467584" y="1371600"/>
            <a:ext cx="310896" cy="310896"/>
          </a:xfrm>
          <a:prstGeom prst="ellipse">
            <a:avLst/>
          </a:prstGeom>
          <a:solidFill>
            <a:srgbClr val="586330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DFBF9"/>
                </a:solidFill>
                <a:latin typeface="Outfit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24200" y="1344168"/>
            <a:ext cx="1536191" cy="40233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3D4D1F"/>
                </a:solidFill>
                <a:latin typeface="Outfit"/>
              </a:rPr>
              <a:t>Animateur·rice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3D4D1F"/>
                </a:solidFill>
                <a:latin typeface="Outfit"/>
              </a:rPr>
              <a:t>de communauté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67584" y="1828800"/>
            <a:ext cx="1865376" cy="182880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3D4D1F"/>
                </a:solidFill>
                <a:latin typeface="Inter"/>
              </a:rPr>
              <a:t>+ accueillir les nouveaux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3D4D1F"/>
                </a:solidFill>
                <a:latin typeface="Inter"/>
              </a:rPr>
              <a:t>+ éditer les pages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3D4D1F"/>
                </a:solidFill>
                <a:latin typeface="Inter"/>
              </a:rPr>
              <a:t>+ gérer le cercle restreint *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3D4D1F"/>
                </a:solidFill>
                <a:latin typeface="Inter"/>
              </a:rPr>
              <a:t>+ modérer son périmètre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53868" y="3790187"/>
            <a:ext cx="809244" cy="219456"/>
          </a:xfrm>
          <a:prstGeom prst="roundRect">
            <a:avLst>
              <a:gd name="adj" fmla="val 50000"/>
            </a:avLst>
          </a:prstGeom>
          <a:solidFill>
            <a:srgbClr val="FAF9F1"/>
          </a:solidFill>
          <a:ln w="12700">
            <a:solidFill>
              <a:srgbClr val="ADBA7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495016" y="3831335"/>
            <a:ext cx="137160" cy="137160"/>
          </a:xfrm>
          <a:prstGeom prst="ellipse">
            <a:avLst/>
          </a:prstGeom>
          <a:solidFill>
            <a:srgbClr val="8C7166"/>
          </a:solidFill>
          <a:ln w="12700">
            <a:solidFill>
              <a:srgbClr val="FDFB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691612" y="3831335"/>
            <a:ext cx="137160" cy="137160"/>
          </a:xfrm>
          <a:prstGeom prst="ellipse">
            <a:avLst/>
          </a:prstGeom>
          <a:solidFill>
            <a:srgbClr val="4E4E88"/>
          </a:solidFill>
          <a:ln w="12700">
            <a:solidFill>
              <a:srgbClr val="FDFB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88208" y="3831335"/>
            <a:ext cx="137160" cy="137160"/>
          </a:xfrm>
          <a:prstGeom prst="ellipse">
            <a:avLst/>
          </a:prstGeom>
          <a:solidFill>
            <a:srgbClr val="9C3F00"/>
          </a:solidFill>
          <a:ln w="12700">
            <a:solidFill>
              <a:srgbClr val="FDFB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084804" y="3831335"/>
            <a:ext cx="137160" cy="137160"/>
          </a:xfrm>
          <a:prstGeom prst="ellipse">
            <a:avLst/>
          </a:prstGeom>
          <a:solidFill>
            <a:srgbClr val="586330"/>
          </a:solidFill>
          <a:ln w="12700">
            <a:solidFill>
              <a:srgbClr val="FDFB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53000" y="1280160"/>
            <a:ext cx="2103120" cy="2880360"/>
          </a:xfrm>
          <a:prstGeom prst="rect">
            <a:avLst/>
          </a:prstGeom>
          <a:solidFill>
            <a:srgbClr val="9C3F00"/>
          </a:solidFill>
          <a:ln w="25400">
            <a:solidFill>
              <a:srgbClr val="7A3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771872" y="1371600"/>
            <a:ext cx="310896" cy="310896"/>
          </a:xfrm>
          <a:prstGeom prst="ellipse">
            <a:avLst/>
          </a:prstGeom>
          <a:solidFill>
            <a:srgbClr val="FDFBF9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9C3F00"/>
                </a:solidFill>
                <a:latin typeface="Outfit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28488" y="1344168"/>
            <a:ext cx="1536191" cy="40233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DFBF9"/>
                </a:solidFill>
                <a:latin typeface="Outfit"/>
              </a:rPr>
              <a:t>Administrateur·rice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DFBF9"/>
                </a:solidFill>
                <a:latin typeface="Outfit"/>
              </a:rPr>
              <a:t>de la plateforme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71872" y="1828800"/>
            <a:ext cx="1865376" cy="182880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FFDBCC"/>
                </a:solidFill>
                <a:latin typeface="Inter"/>
              </a:rPr>
              <a:t>+ comptes et groupes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FFDBCC"/>
                </a:solidFill>
                <a:latin typeface="Inter"/>
              </a:rPr>
              <a:t>+ droits d'accès des pages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FFDBCC"/>
                </a:solidFill>
                <a:latin typeface="Inter"/>
              </a:rPr>
              <a:t>+ formulaires et statuts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FFDBCC"/>
                </a:solidFill>
                <a:latin typeface="Inter"/>
              </a:rPr>
              <a:t>+ tout éditer ou supprimer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58156" y="3790187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F3E8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799304" y="3831335"/>
            <a:ext cx="137160" cy="137160"/>
          </a:xfrm>
          <a:prstGeom prst="ellipse">
            <a:avLst/>
          </a:prstGeom>
          <a:solidFill>
            <a:srgbClr val="8C7166"/>
          </a:solidFill>
          <a:ln w="12700">
            <a:solidFill>
              <a:srgbClr val="FDFB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95900" y="3831335"/>
            <a:ext cx="137160" cy="137160"/>
          </a:xfrm>
          <a:prstGeom prst="ellipse">
            <a:avLst/>
          </a:prstGeom>
          <a:solidFill>
            <a:srgbClr val="4E4E88"/>
          </a:solidFill>
          <a:ln w="12700">
            <a:solidFill>
              <a:srgbClr val="FDFB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192496" y="3831335"/>
            <a:ext cx="137160" cy="137160"/>
          </a:xfrm>
          <a:prstGeom prst="ellipse">
            <a:avLst/>
          </a:prstGeom>
          <a:solidFill>
            <a:srgbClr val="9C3F00"/>
          </a:solidFill>
          <a:ln w="12700">
            <a:solidFill>
              <a:srgbClr val="FDFB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89092" y="3831335"/>
            <a:ext cx="137160" cy="137160"/>
          </a:xfrm>
          <a:prstGeom prst="ellipse">
            <a:avLst/>
          </a:prstGeom>
          <a:solidFill>
            <a:srgbClr val="586330"/>
          </a:solidFill>
          <a:ln w="12700">
            <a:solidFill>
              <a:srgbClr val="FDFB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585688" y="3831335"/>
            <a:ext cx="137160" cy="137160"/>
          </a:xfrm>
          <a:prstGeom prst="ellipse">
            <a:avLst/>
          </a:prstGeom>
          <a:solidFill>
            <a:srgbClr val="7A3000"/>
          </a:solidFill>
          <a:ln w="12700">
            <a:solidFill>
              <a:srgbClr val="FDFB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871456" y="5385816"/>
            <a:ext cx="1645920" cy="0"/>
          </a:xfrm>
          <a:prstGeom prst="line">
            <a:avLst/>
          </a:prstGeom>
          <a:ln w="19050">
            <a:solidFill>
              <a:srgbClr val="9C3F00"/>
            </a:solidFill>
            <a:tailEnd type="triangle" w="med" len="med"/>
          </a:ln>
          <a:effectLst/>
        </p:spPr>
      </p:cxnSp>
      <p:sp>
        <p:nvSpPr>
          <p:cNvPr id="54" name="TextBox 53"/>
          <p:cNvSpPr txBox="1"/>
          <p:nvPr/>
        </p:nvSpPr>
        <p:spPr>
          <a:xfrm>
            <a:off x="1816592" y="4736592"/>
            <a:ext cx="1645920" cy="256032"/>
          </a:xfrm>
          <a:prstGeom prst="rect">
            <a:avLst/>
          </a:prstGeom>
          <a:noFill/>
          <a:effectLst/>
        </p:spPr>
        <p:txBody>
          <a:bodyPr wrap="non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6B5C54"/>
                </a:solidFill>
                <a:latin typeface="Inter"/>
              </a:rPr>
              <a:t>s'inscrire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175744" y="5385816"/>
            <a:ext cx="1645920" cy="0"/>
          </a:xfrm>
          <a:prstGeom prst="line">
            <a:avLst/>
          </a:prstGeom>
          <a:ln w="19050">
            <a:solidFill>
              <a:srgbClr val="9C3F00"/>
            </a:solidFill>
            <a:tailEnd type="triangle" w="med" len="med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4120880" y="4736592"/>
            <a:ext cx="1645920" cy="256032"/>
          </a:xfrm>
          <a:prstGeom prst="rect">
            <a:avLst/>
          </a:prstGeom>
          <a:noFill/>
          <a:effectLst/>
        </p:spPr>
        <p:txBody>
          <a:bodyPr wrap="non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6B5C54"/>
                </a:solidFill>
                <a:latin typeface="Inter"/>
              </a:rPr>
              <a:t>rejoindre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480032" y="5385816"/>
            <a:ext cx="1645920" cy="0"/>
          </a:xfrm>
          <a:prstGeom prst="line">
            <a:avLst/>
          </a:prstGeom>
          <a:ln w="19050">
            <a:solidFill>
              <a:srgbClr val="9C3F00"/>
            </a:solidFill>
            <a:prstDash val="dash"/>
            <a:tailEnd type="triangle" w="med" len="med"/>
          </a:ln>
          <a:effectLst/>
        </p:spPr>
      </p:cxnSp>
      <p:sp>
        <p:nvSpPr>
          <p:cNvPr id="58" name="TextBox 57"/>
          <p:cNvSpPr txBox="1"/>
          <p:nvPr/>
        </p:nvSpPr>
        <p:spPr>
          <a:xfrm>
            <a:off x="6425168" y="4736592"/>
            <a:ext cx="1645920" cy="256032"/>
          </a:xfrm>
          <a:prstGeom prst="rect">
            <a:avLst/>
          </a:prstGeom>
          <a:noFill/>
          <a:effectLst/>
        </p:spPr>
        <p:txBody>
          <a:bodyPr wrap="non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6B5C54"/>
                </a:solidFill>
                <a:latin typeface="Inter"/>
              </a:rPr>
              <a:t>animer *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784320" y="5385816"/>
            <a:ext cx="1645920" cy="0"/>
          </a:xfrm>
          <a:prstGeom prst="line">
            <a:avLst/>
          </a:prstGeom>
          <a:ln w="19050">
            <a:solidFill>
              <a:srgbClr val="9C3F00"/>
            </a:solidFill>
            <a:prstDash val="dash"/>
            <a:tailEnd type="triangle" w="med" len="med"/>
          </a:ln>
          <a:effectLst/>
        </p:spPr>
      </p:cxnSp>
      <p:sp>
        <p:nvSpPr>
          <p:cNvPr id="60" name="TextBox 59"/>
          <p:cNvSpPr txBox="1"/>
          <p:nvPr/>
        </p:nvSpPr>
        <p:spPr>
          <a:xfrm>
            <a:off x="8729456" y="4736592"/>
            <a:ext cx="1645920" cy="256032"/>
          </a:xfrm>
          <a:prstGeom prst="rect">
            <a:avLst/>
          </a:prstGeom>
          <a:noFill/>
          <a:effectLst/>
        </p:spPr>
        <p:txBody>
          <a:bodyPr wrap="non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6B5C54"/>
                </a:solidFill>
                <a:latin typeface="Inter"/>
              </a:rPr>
              <a:t>désignation *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5848" y="6473952"/>
            <a:ext cx="5943600" cy="27432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5C54"/>
                </a:solidFill>
                <a:latin typeface="Inter"/>
              </a:rPr>
              <a:t>* proposition, à valider - source : référentiel des rôles et droits e-Sol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55720" y="6473952"/>
            <a:ext cx="3200400" cy="27432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5C54"/>
                </a:solidFill>
                <a:latin typeface="Inter"/>
              </a:rPr>
              <a:t>niveaux cumulatifs : 1 à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911809" cy="31089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9C3F00"/>
                </a:solidFill>
                <a:latin typeface="Outfit"/>
              </a:rPr>
              <a:t>LA GOUVERNANCE E-SOL - VARIANTE SIMPLIFIÉE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12064"/>
            <a:ext cx="9997409" cy="256032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B5C54"/>
                </a:solidFill>
                <a:latin typeface="Inter"/>
              </a:rPr>
              <a:t>Qui anime, qui produit, qui en bénéficie : la chaîne en quatre maillons de la charte.</a:t>
            </a:r>
          </a:p>
        </p:txBody>
      </p:sp>
      <p:sp>
        <p:nvSpPr>
          <p:cNvPr id="4" name="Can 3"/>
          <p:cNvSpPr/>
          <p:nvPr/>
        </p:nvSpPr>
        <p:spPr>
          <a:xfrm>
            <a:off x="365760" y="2628900"/>
            <a:ext cx="1371600" cy="1600200"/>
          </a:xfrm>
          <a:prstGeom prst="can">
            <a:avLst/>
          </a:prstGeom>
          <a:solidFill>
            <a:srgbClr val="9C3F00"/>
          </a:solidFill>
          <a:ln w="25400">
            <a:solidFill>
              <a:srgbClr val="7A3000"/>
            </a:solidFill>
          </a:ln>
          <a:effectLst/>
        </p:spPr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FDFBF9"/>
                </a:solidFill>
                <a:latin typeface="Outfit"/>
              </a:rPr>
              <a:t>AFES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 i="1">
                <a:solidFill>
                  <a:srgbClr val="FDFBF9"/>
                </a:solidFill>
                <a:latin typeface="Outfit"/>
              </a:rPr>
              <a:t>+ COPIL</a:t>
            </a:r>
          </a:p>
        </p:txBody>
      </p:sp>
      <p:sp>
        <p:nvSpPr>
          <p:cNvPr id="5" name="Rectangle 4"/>
          <p:cNvSpPr/>
          <p:nvPr/>
        </p:nvSpPr>
        <p:spPr>
          <a:xfrm>
            <a:off x="3072384" y="2811780"/>
            <a:ext cx="2103120" cy="1234440"/>
          </a:xfrm>
          <a:prstGeom prst="rect">
            <a:avLst/>
          </a:prstGeom>
          <a:solidFill>
            <a:srgbClr val="FFDBCC"/>
          </a:solidFill>
          <a:ln w="25400">
            <a:solidFill>
              <a:srgbClr val="9C3F00"/>
            </a:solidFill>
          </a:ln>
          <a:effectLst/>
        </p:spPr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7A3000"/>
                </a:solidFill>
                <a:latin typeface="Outfit"/>
              </a:rPr>
              <a:t>Communautés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 i="1">
                <a:solidFill>
                  <a:srgbClr val="7A3000"/>
                </a:solidFill>
                <a:latin typeface="Outfit"/>
              </a:rPr>
              <a:t>les maisons du village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10528" y="2811780"/>
            <a:ext cx="2103120" cy="1234440"/>
          </a:xfrm>
          <a:prstGeom prst="rect">
            <a:avLst/>
          </a:prstGeom>
          <a:solidFill>
            <a:srgbClr val="DBE9A9"/>
          </a:solidFill>
          <a:ln w="25400">
            <a:solidFill>
              <a:srgbClr val="586330"/>
            </a:solidFill>
          </a:ln>
          <a:effectLst/>
        </p:spPr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3D4D1F"/>
                </a:solidFill>
                <a:latin typeface="Outfit"/>
              </a:rPr>
              <a:t>Communs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 i="1">
                <a:solidFill>
                  <a:srgbClr val="3D4D1F"/>
                </a:solidFill>
                <a:latin typeface="Outfit"/>
              </a:rPr>
              <a:t>les outils partagés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9948672" y="2811780"/>
            <a:ext cx="1874519" cy="1234440"/>
          </a:xfrm>
          <a:prstGeom prst="rect">
            <a:avLst/>
          </a:prstGeom>
          <a:solidFill>
            <a:srgbClr val="F5EDF2"/>
          </a:solidFill>
          <a:ln w="25400">
            <a:solidFill>
              <a:srgbClr val="885060"/>
            </a:solidFill>
          </a:ln>
          <a:effectLst/>
        </p:spPr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5A3038"/>
                </a:solidFill>
                <a:latin typeface="Outfit"/>
              </a:rPr>
              <a:t>Société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 i="1">
                <a:solidFill>
                  <a:srgbClr val="5A3038"/>
                </a:solidFill>
                <a:latin typeface="Outfit"/>
              </a:rPr>
              <a:t>bénéficiaires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37360" y="3429000"/>
            <a:ext cx="1307592" cy="0"/>
          </a:xfrm>
          <a:prstGeom prst="line">
            <a:avLst/>
          </a:prstGeom>
          <a:ln w="22225">
            <a:solidFill>
              <a:srgbClr val="9C3F00"/>
            </a:solidFill>
            <a:tailEnd type="triangle" w="med" len="med"/>
          </a:ln>
          <a:effectLst/>
        </p:spPr>
      </p:cxnSp>
      <p:sp>
        <p:nvSpPr>
          <p:cNvPr id="9" name="Rectangle 8"/>
          <p:cNvSpPr/>
          <p:nvPr/>
        </p:nvSpPr>
        <p:spPr>
          <a:xfrm>
            <a:off x="2084831" y="3282696"/>
            <a:ext cx="640080" cy="292608"/>
          </a:xfrm>
          <a:prstGeom prst="rect">
            <a:avLst/>
          </a:prstGeom>
          <a:solidFill>
            <a:srgbClr val="DBE9A9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A1512"/>
                </a:solidFill>
                <a:latin typeface="Outfit"/>
              </a:rPr>
              <a:t>anime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75504" y="3429000"/>
            <a:ext cx="1307592" cy="0"/>
          </a:xfrm>
          <a:prstGeom prst="line">
            <a:avLst/>
          </a:prstGeom>
          <a:ln w="22225">
            <a:solidFill>
              <a:srgbClr val="9C3F00"/>
            </a:solidFill>
            <a:tailEnd type="triangle" w="med" len="med"/>
          </a:ln>
          <a:effectLst/>
        </p:spPr>
      </p:cxnSp>
      <p:sp>
        <p:nvSpPr>
          <p:cNvPr id="11" name="Rectangle 10"/>
          <p:cNvSpPr/>
          <p:nvPr/>
        </p:nvSpPr>
        <p:spPr>
          <a:xfrm>
            <a:off x="5385816" y="3282696"/>
            <a:ext cx="914400" cy="292608"/>
          </a:xfrm>
          <a:prstGeom prst="rect">
            <a:avLst/>
          </a:prstGeom>
          <a:solidFill>
            <a:srgbClr val="DBE9A9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A1512"/>
                </a:solidFill>
                <a:latin typeface="Outfit"/>
              </a:rPr>
              <a:t>produisent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13648" y="3429000"/>
            <a:ext cx="1307592" cy="0"/>
          </a:xfrm>
          <a:prstGeom prst="line">
            <a:avLst/>
          </a:prstGeom>
          <a:ln w="22225">
            <a:solidFill>
              <a:srgbClr val="9C3F00"/>
            </a:solidFill>
            <a:tailEnd type="triangle" w="med" len="med"/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8741664" y="3282696"/>
            <a:ext cx="1078992" cy="292608"/>
          </a:xfrm>
          <a:prstGeom prst="rect">
            <a:avLst/>
          </a:prstGeom>
          <a:solidFill>
            <a:srgbClr val="DBE9A9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A1512"/>
                </a:solidFill>
                <a:latin typeface="Outfit"/>
              </a:rPr>
              <a:t>bénéficient 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911809" cy="31089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9C3F00"/>
                </a:solidFill>
                <a:latin typeface="Outfit"/>
              </a:rPr>
              <a:t>LA VUE COMMUNAUTÉ - TROIS POSITIONS, TROIS ESPACES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063240" y="868680"/>
            <a:ext cx="8641080" cy="1874519"/>
          </a:xfrm>
          <a:prstGeom prst="rect">
            <a:avLst/>
          </a:prstGeom>
          <a:solidFill>
            <a:srgbClr val="F6FAEA"/>
          </a:solidFill>
          <a:ln w="19050">
            <a:solidFill>
              <a:srgbClr val="5863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932688"/>
            <a:ext cx="8366759" cy="27432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D4D1F"/>
                </a:solidFill>
                <a:latin typeface="Outfit"/>
              </a:rPr>
              <a:t>ESPACES PARTAGÉS - tous les membres de la communauté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3680459" y="1481328"/>
            <a:ext cx="3291840" cy="841248"/>
          </a:xfrm>
          <a:prstGeom prst="rect">
            <a:avLst/>
          </a:prstGeom>
          <a:solidFill>
            <a:srgbClr val="FDFBF9"/>
          </a:solidFill>
          <a:ln w="15875">
            <a:solidFill>
              <a:srgbClr val="B09570"/>
            </a:solidFill>
          </a:ln>
          <a:effectLst/>
        </p:spPr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Pages et documents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de la communauté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7795259" y="1481328"/>
            <a:ext cx="3291840" cy="841248"/>
          </a:xfrm>
          <a:prstGeom prst="rect">
            <a:avLst/>
          </a:prstGeom>
          <a:solidFill>
            <a:srgbClr val="FDFBF9"/>
          </a:solidFill>
          <a:ln w="15875">
            <a:solidFill>
              <a:srgbClr val="B09570"/>
            </a:solidFill>
          </a:ln>
          <a:effectLst/>
        </p:spPr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Discussions -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catégorie de forum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3017520"/>
            <a:ext cx="8641080" cy="1463040"/>
          </a:xfrm>
          <a:prstGeom prst="rect">
            <a:avLst/>
          </a:prstGeom>
          <a:solidFill>
            <a:srgbClr val="F5EDF2"/>
          </a:solidFill>
          <a:ln w="19050">
            <a:solidFill>
              <a:srgbClr val="88506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081528"/>
            <a:ext cx="8366759" cy="27432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A3038"/>
                </a:solidFill>
                <a:latin typeface="Outfit"/>
              </a:rPr>
              <a:t>CERCLE RESTREINT - accès sur permission, seulement si la communauté l'active*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6259" y="3566160"/>
            <a:ext cx="6035040" cy="786384"/>
          </a:xfrm>
          <a:prstGeom prst="rect">
            <a:avLst/>
          </a:prstGeom>
          <a:solidFill>
            <a:srgbClr val="FDFBF9"/>
          </a:solidFill>
          <a:ln w="15875">
            <a:solidFill>
              <a:srgbClr val="B09570"/>
            </a:solidFill>
          </a:ln>
          <a:effectLst/>
        </p:spPr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Pages réservées - documents de travail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se prolonge sur le forum (catégorie restreinte)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4754880"/>
            <a:ext cx="8641080" cy="1143000"/>
          </a:xfrm>
          <a:prstGeom prst="rect">
            <a:avLst/>
          </a:prstGeom>
          <a:solidFill>
            <a:srgbClr val="FFDBCC"/>
          </a:solidFill>
          <a:ln w="19050">
            <a:solidFill>
              <a:srgbClr val="9C3F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4818888"/>
            <a:ext cx="8366759" cy="27432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A3000"/>
                </a:solidFill>
                <a:latin typeface="Outfit"/>
              </a:rPr>
              <a:t>ANIMATION - réservé aux animateur·rices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97779" y="5193792"/>
            <a:ext cx="4572000" cy="566928"/>
          </a:xfrm>
          <a:prstGeom prst="rect">
            <a:avLst/>
          </a:prstGeom>
          <a:solidFill>
            <a:srgbClr val="FDFBF9"/>
          </a:solidFill>
          <a:ln w="15875">
            <a:solidFill>
              <a:srgbClr val="B09570"/>
            </a:solidFill>
          </a:ln>
          <a:effectLst/>
        </p:spPr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Accueil - réglages - modération du périmètre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25880"/>
            <a:ext cx="1874519" cy="603504"/>
          </a:xfrm>
          <a:prstGeom prst="roundRect">
            <a:avLst>
              <a:gd name="adj" fmla="val 50000"/>
            </a:avLst>
          </a:prstGeom>
          <a:solidFill>
            <a:srgbClr val="EEEEF8"/>
          </a:solidFill>
          <a:ln w="19050">
            <a:solidFill>
              <a:srgbClr val="4E4E88"/>
            </a:solidFill>
          </a:ln>
          <a:effectLst/>
        </p:spPr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3D3D5C"/>
                </a:solidFill>
                <a:latin typeface="Outfit"/>
              </a:rPr>
              <a:t>Membre de la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3D3D5C"/>
                </a:solidFill>
                <a:latin typeface="Outfit"/>
              </a:rPr>
              <a:t>communauté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14600"/>
            <a:ext cx="1874519" cy="603504"/>
          </a:xfrm>
          <a:prstGeom prst="roundRect">
            <a:avLst>
              <a:gd name="adj" fmla="val 50000"/>
            </a:avLst>
          </a:prstGeom>
          <a:solidFill>
            <a:srgbClr val="EEEEF8"/>
          </a:solidFill>
          <a:ln w="19050">
            <a:solidFill>
              <a:srgbClr val="4E4E88"/>
            </a:solidFill>
          </a:ln>
          <a:effectLst/>
        </p:spPr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3D3D5C"/>
                </a:solidFill>
                <a:latin typeface="Outfit"/>
              </a:rPr>
              <a:t>Membre du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3D3D5C"/>
                </a:solidFill>
                <a:latin typeface="Outfit"/>
              </a:rPr>
              <a:t>cercle restreint*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26280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EEEEF8"/>
          </a:solidFill>
          <a:ln w="19050">
            <a:solidFill>
              <a:srgbClr val="4E4E88"/>
            </a:solidFill>
          </a:ln>
          <a:effectLst/>
        </p:spPr>
        <p:txBody>
          <a:bodyPr rtlCol="0" anchor="ctr" wrap="square" lIns="27432" rIns="27432" tIns="27432" bIns="27432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3D3D5C"/>
                </a:solidFill>
                <a:latin typeface="Outfit"/>
              </a:rPr>
              <a:t>Animateur·rice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95728" y="1627632"/>
            <a:ext cx="630936" cy="109728"/>
          </a:xfrm>
          <a:prstGeom prst="line">
            <a:avLst/>
          </a:prstGeom>
          <a:ln w="19050">
            <a:solidFill>
              <a:srgbClr val="9C3F00"/>
            </a:solidFill>
            <a:tailEnd type="triangle" w="med" len="med"/>
          </a:ln>
          <a:effectLst/>
        </p:spPr>
      </p:cxnSp>
      <p:cxnSp>
        <p:nvCxnSpPr>
          <p:cNvPr id="17" name="Connector 16"/>
          <p:cNvCxnSpPr/>
          <p:nvPr/>
        </p:nvCxnSpPr>
        <p:spPr>
          <a:xfrm flipV="1">
            <a:off x="2395728" y="2267712"/>
            <a:ext cx="630936" cy="493776"/>
          </a:xfrm>
          <a:prstGeom prst="line">
            <a:avLst/>
          </a:prstGeom>
          <a:ln w="19050">
            <a:solidFill>
              <a:srgbClr val="9C3F00"/>
            </a:solidFill>
            <a:tailEnd type="triangle" w="med" len="med"/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2395728" y="2889504"/>
            <a:ext cx="630936" cy="722376"/>
          </a:xfrm>
          <a:prstGeom prst="line">
            <a:avLst/>
          </a:prstGeom>
          <a:ln w="19050">
            <a:solidFill>
              <a:srgbClr val="9C3F00"/>
            </a:solidFill>
            <a:tailEnd type="triangle" w="med" len="med"/>
          </a:ln>
          <a:effectLst/>
        </p:spPr>
      </p:cxnSp>
      <p:cxnSp>
        <p:nvCxnSpPr>
          <p:cNvPr id="19" name="Connector 18"/>
          <p:cNvCxnSpPr/>
          <p:nvPr/>
        </p:nvCxnSpPr>
        <p:spPr>
          <a:xfrm flipV="1">
            <a:off x="2395728" y="2633472"/>
            <a:ext cx="630936" cy="2011680"/>
          </a:xfrm>
          <a:prstGeom prst="line">
            <a:avLst/>
          </a:prstGeom>
          <a:ln w="19050">
            <a:solidFill>
              <a:srgbClr val="9C3F00"/>
            </a:solidFill>
            <a:tailEnd type="triangle" w="med" len="med"/>
          </a:ln>
          <a:effectLst/>
        </p:spPr>
      </p:cxnSp>
      <p:cxnSp>
        <p:nvCxnSpPr>
          <p:cNvPr id="20" name="Connector 19"/>
          <p:cNvCxnSpPr/>
          <p:nvPr/>
        </p:nvCxnSpPr>
        <p:spPr>
          <a:xfrm flipV="1">
            <a:off x="2395728" y="3977639"/>
            <a:ext cx="630936" cy="740665"/>
          </a:xfrm>
          <a:prstGeom prst="line">
            <a:avLst/>
          </a:prstGeom>
          <a:ln w="19050">
            <a:solidFill>
              <a:srgbClr val="9C3F00"/>
            </a:solidFill>
            <a:tailEnd type="triangle" w="med" len="med"/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2395728" y="4864608"/>
            <a:ext cx="630936" cy="484632"/>
          </a:xfrm>
          <a:prstGeom prst="line">
            <a:avLst/>
          </a:prstGeom>
          <a:ln w="38100">
            <a:solidFill>
              <a:srgbClr val="9C3F00"/>
            </a:solidFill>
            <a:tailEnd type="triangle" w="med" len="med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914400" y="6053328"/>
            <a:ext cx="10363169" cy="566928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B5C54"/>
                </a:solidFill>
                <a:latin typeface="Inter"/>
              </a:rPr>
              <a:t>Les trois cadres sont l'intérieur d'une même communauté ; une flèche se lit « a accès à ». Le cadre en pointillés est optionnel : une communauté sans cercle restreint fonctionne très bien avec deux positions seulement.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911809" cy="31089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9C3F00"/>
                </a:solidFill>
                <a:latin typeface="Outfit"/>
              </a:rPr>
              <a:t>PREMIERS PAS - CINQ JALONS POUR S'INSTALLER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12064"/>
            <a:ext cx="9997409" cy="256032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B5C54"/>
                </a:solidFill>
                <a:latin typeface="Inter"/>
              </a:rPr>
              <a:t>Cinq gestes simples, dans l'ordre, pour prendre ses marques dans le village e-Sol.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319272"/>
            <a:ext cx="10363169" cy="36576"/>
          </a:xfrm>
          <a:prstGeom prst="rect">
            <a:avLst/>
          </a:prstGeom>
          <a:solidFill>
            <a:srgbClr val="C4AA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240280" y="3337560"/>
            <a:ext cx="1310335" cy="0"/>
          </a:xfrm>
          <a:prstGeom prst="line">
            <a:avLst/>
          </a:prstGeom>
          <a:ln w="22225">
            <a:solidFill>
              <a:srgbClr val="B47F4E"/>
            </a:solidFill>
            <a:prstDash val="dash"/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4373575" y="3337560"/>
            <a:ext cx="1310335" cy="0"/>
          </a:xfrm>
          <a:prstGeom prst="line">
            <a:avLst/>
          </a:prstGeom>
          <a:ln w="22225">
            <a:solidFill>
              <a:srgbClr val="B47F4E"/>
            </a:solidFill>
            <a:prstDash val="dash"/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6506870" y="3337560"/>
            <a:ext cx="1310335" cy="0"/>
          </a:xfrm>
          <a:prstGeom prst="line">
            <a:avLst/>
          </a:prstGeom>
          <a:ln w="22225">
            <a:solidFill>
              <a:srgbClr val="B47F4E"/>
            </a:solidFill>
            <a:prstDash val="dash"/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8640165" y="3337560"/>
            <a:ext cx="1310335" cy="0"/>
          </a:xfrm>
          <a:prstGeom prst="line">
            <a:avLst/>
          </a:prstGeom>
          <a:ln w="22225">
            <a:solidFill>
              <a:srgbClr val="B47F4E"/>
            </a:solidFill>
            <a:prstDash val="dash"/>
          </a:ln>
          <a:effectLst/>
        </p:spPr>
      </p:cxnSp>
      <p:sp>
        <p:nvSpPr>
          <p:cNvPr id="9" name="Oval 8"/>
          <p:cNvSpPr/>
          <p:nvPr/>
        </p:nvSpPr>
        <p:spPr>
          <a:xfrm>
            <a:off x="1517904" y="3026664"/>
            <a:ext cx="621792" cy="621792"/>
          </a:xfrm>
          <a:prstGeom prst="ellipse">
            <a:avLst/>
          </a:prstGeom>
          <a:solidFill>
            <a:srgbClr val="9C3F00"/>
          </a:solidFill>
          <a:ln w="31750">
            <a:solidFill>
              <a:srgbClr val="FDFBF9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DFBF9"/>
                </a:solidFill>
                <a:latin typeface="Outfi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813048"/>
            <a:ext cx="2011680" cy="292608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9C3F00"/>
                </a:solidFill>
                <a:latin typeface="Outfit"/>
              </a:rPr>
              <a:t>Profil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23944"/>
            <a:ext cx="2103120" cy="256032"/>
          </a:xfrm>
          <a:prstGeom prst="rect">
            <a:avLst/>
          </a:prstGeom>
          <a:noFill/>
          <a:effectLst/>
        </p:spPr>
        <p:txBody>
          <a:bodyPr wrap="non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B5C54"/>
                </a:solidFill>
                <a:latin typeface="Inter"/>
              </a:rPr>
              <a:t>je me présente</a:t>
            </a:r>
          </a:p>
        </p:txBody>
      </p:sp>
      <p:sp>
        <p:nvSpPr>
          <p:cNvPr id="12" name="Oval 11"/>
          <p:cNvSpPr/>
          <p:nvPr/>
        </p:nvSpPr>
        <p:spPr>
          <a:xfrm>
            <a:off x="3651199" y="3026664"/>
            <a:ext cx="621792" cy="621792"/>
          </a:xfrm>
          <a:prstGeom prst="ellipse">
            <a:avLst/>
          </a:prstGeom>
          <a:solidFill>
            <a:srgbClr val="6B5C54"/>
          </a:solidFill>
          <a:ln w="31750">
            <a:solidFill>
              <a:srgbClr val="FDFBF9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DFBF9"/>
                </a:solidFill>
                <a:latin typeface="Outfi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6255" y="3813048"/>
            <a:ext cx="2011680" cy="292608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A3728"/>
                </a:solidFill>
                <a:latin typeface="Outfit"/>
              </a:rPr>
              <a:t>Charte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0535" y="4123944"/>
            <a:ext cx="2103120" cy="256032"/>
          </a:xfrm>
          <a:prstGeom prst="rect">
            <a:avLst/>
          </a:prstGeom>
          <a:noFill/>
          <a:effectLst/>
        </p:spPr>
        <p:txBody>
          <a:bodyPr wrap="non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B5C54"/>
                </a:solidFill>
                <a:latin typeface="Inter"/>
              </a:rPr>
              <a:t>je lis ce que j'ai signé</a:t>
            </a:r>
          </a:p>
        </p:txBody>
      </p:sp>
      <p:sp>
        <p:nvSpPr>
          <p:cNvPr id="15" name="Oval 14"/>
          <p:cNvSpPr/>
          <p:nvPr/>
        </p:nvSpPr>
        <p:spPr>
          <a:xfrm>
            <a:off x="5784494" y="3026664"/>
            <a:ext cx="621792" cy="621792"/>
          </a:xfrm>
          <a:prstGeom prst="ellipse">
            <a:avLst/>
          </a:prstGeom>
          <a:solidFill>
            <a:srgbClr val="A55218"/>
          </a:solidFill>
          <a:ln w="31750">
            <a:solidFill>
              <a:srgbClr val="FDFBF9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DFBF9"/>
                </a:solidFill>
                <a:latin typeface="Outfi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9550" y="3813048"/>
            <a:ext cx="2011680" cy="292608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9C3F00"/>
                </a:solidFill>
                <a:latin typeface="Outfit"/>
              </a:rPr>
              <a:t>Maison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3830" y="4123944"/>
            <a:ext cx="2103120" cy="256032"/>
          </a:xfrm>
          <a:prstGeom prst="rect">
            <a:avLst/>
          </a:prstGeom>
          <a:noFill/>
          <a:effectLst/>
        </p:spPr>
        <p:txBody>
          <a:bodyPr wrap="non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B5C54"/>
                </a:solidFill>
                <a:latin typeface="Inter"/>
              </a:rPr>
              <a:t>je rejoins 1-2 communautés</a:t>
            </a:r>
          </a:p>
        </p:txBody>
      </p:sp>
      <p:sp>
        <p:nvSpPr>
          <p:cNvPr id="18" name="Oval 17"/>
          <p:cNvSpPr/>
          <p:nvPr/>
        </p:nvSpPr>
        <p:spPr>
          <a:xfrm>
            <a:off x="7917789" y="3026664"/>
            <a:ext cx="621792" cy="621792"/>
          </a:xfrm>
          <a:prstGeom prst="ellipse">
            <a:avLst/>
          </a:prstGeom>
          <a:solidFill>
            <a:srgbClr val="C05814"/>
          </a:solidFill>
          <a:ln w="31750">
            <a:solidFill>
              <a:srgbClr val="FDFBF9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DFBF9"/>
                </a:solidFill>
                <a:latin typeface="Outfi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2845" y="3813048"/>
            <a:ext cx="2011680" cy="292608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05814"/>
                </a:solidFill>
                <a:latin typeface="Outfit"/>
              </a:rPr>
              <a:t>Forum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7125" y="4123944"/>
            <a:ext cx="2103120" cy="256032"/>
          </a:xfrm>
          <a:prstGeom prst="rect">
            <a:avLst/>
          </a:prstGeom>
          <a:noFill/>
          <a:effectLst/>
        </p:spPr>
        <p:txBody>
          <a:bodyPr wrap="non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B5C54"/>
                </a:solidFill>
                <a:latin typeface="Inter"/>
              </a:rPr>
              <a:t>je dis bonjour</a:t>
            </a:r>
          </a:p>
        </p:txBody>
      </p:sp>
      <p:sp>
        <p:nvSpPr>
          <p:cNvPr id="21" name="Oval 20"/>
          <p:cNvSpPr/>
          <p:nvPr/>
        </p:nvSpPr>
        <p:spPr>
          <a:xfrm>
            <a:off x="10051084" y="3026664"/>
            <a:ext cx="621792" cy="621792"/>
          </a:xfrm>
          <a:prstGeom prst="ellipse">
            <a:avLst/>
          </a:prstGeom>
          <a:solidFill>
            <a:srgbClr val="586330"/>
          </a:solidFill>
          <a:ln w="31750">
            <a:solidFill>
              <a:srgbClr val="FDFBF9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DFBF9"/>
                </a:solidFill>
                <a:latin typeface="Outfit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6140" y="3813048"/>
            <a:ext cx="2011680" cy="292608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3D4D1F"/>
                </a:solidFill>
                <a:latin typeface="Outfit"/>
              </a:rPr>
              <a:t>Commun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0420" y="4123944"/>
            <a:ext cx="2103120" cy="256032"/>
          </a:xfrm>
          <a:prstGeom prst="rect">
            <a:avLst/>
          </a:prstGeom>
          <a:noFill/>
          <a:effectLst/>
        </p:spPr>
        <p:txBody>
          <a:bodyPr wrap="non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B5C54"/>
                </a:solidFill>
                <a:latin typeface="Inter"/>
              </a:rPr>
              <a:t>je repère un outil à suivre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911809" cy="31089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9C3F00"/>
                </a:solidFill>
                <a:latin typeface="Outfit"/>
              </a:rPr>
              <a:t>LE VILLAGE E-SOL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12064"/>
            <a:ext cx="9997409" cy="256032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B5C54"/>
                </a:solidFill>
                <a:latin typeface="Inter"/>
              </a:rPr>
              <a:t>Une maison par communauté ; au centre, les lieux partagés de la place.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448816" y="932688"/>
            <a:ext cx="1298448" cy="310896"/>
          </a:xfrm>
          <a:prstGeom prst="triangle">
            <a:avLst/>
          </a:prstGeom>
          <a:solidFill>
            <a:srgbClr val="7057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3680" y="1243584"/>
            <a:ext cx="1188719" cy="749808"/>
          </a:xfrm>
          <a:prstGeom prst="rect">
            <a:avLst/>
          </a:prstGeom>
          <a:solidFill>
            <a:srgbClr val="FEDCBE"/>
          </a:solidFill>
          <a:ln w="15875">
            <a:solidFill>
              <a:srgbClr val="705740"/>
            </a:solidFill>
          </a:ln>
          <a:effectLst/>
        </p:spPr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1" i="0">
                <a:solidFill>
                  <a:srgbClr val="705740"/>
                </a:solidFill>
                <a:latin typeface="Outfit"/>
              </a:rPr>
              <a:t>Sols et Éducation</a:t>
            </a:r>
          </a:p>
        </p:txBody>
      </p:sp>
      <p:sp>
        <p:nvSpPr>
          <p:cNvPr id="6" name="Isosceles Triangle 5"/>
          <p:cNvSpPr/>
          <p:nvPr/>
        </p:nvSpPr>
        <p:spPr>
          <a:xfrm>
            <a:off x="1876800" y="932688"/>
            <a:ext cx="1298448" cy="310896"/>
          </a:xfrm>
          <a:prstGeom prst="triangle">
            <a:avLst/>
          </a:prstGeom>
          <a:solidFill>
            <a:srgbClr val="9C3F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31664" y="1243584"/>
            <a:ext cx="1188719" cy="749808"/>
          </a:xfrm>
          <a:prstGeom prst="rect">
            <a:avLst/>
          </a:prstGeom>
          <a:solidFill>
            <a:srgbClr val="FFDBCC"/>
          </a:solidFill>
          <a:ln w="15875">
            <a:solidFill>
              <a:srgbClr val="9C3F00"/>
            </a:solidFill>
          </a:ln>
          <a:effectLst/>
        </p:spPr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1" i="0">
                <a:solidFill>
                  <a:srgbClr val="9C3F00"/>
                </a:solidFill>
                <a:latin typeface="Outfit"/>
              </a:rPr>
              <a:t>Pédologie de terrain</a:t>
            </a:r>
          </a:p>
        </p:txBody>
      </p:sp>
      <p:sp>
        <p:nvSpPr>
          <p:cNvPr id="8" name="Isosceles Triangle 7"/>
          <p:cNvSpPr/>
          <p:nvPr/>
        </p:nvSpPr>
        <p:spPr>
          <a:xfrm>
            <a:off x="3304784" y="932688"/>
            <a:ext cx="1298448" cy="310896"/>
          </a:xfrm>
          <a:prstGeom prst="triangle">
            <a:avLst/>
          </a:prstGeom>
          <a:solidFill>
            <a:srgbClr val="5863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59648" y="1243584"/>
            <a:ext cx="1188719" cy="749808"/>
          </a:xfrm>
          <a:prstGeom prst="rect">
            <a:avLst/>
          </a:prstGeom>
          <a:solidFill>
            <a:srgbClr val="DBE9A9"/>
          </a:solidFill>
          <a:ln w="15875">
            <a:solidFill>
              <a:srgbClr val="586330"/>
            </a:solidFill>
          </a:ln>
          <a:effectLst/>
        </p:spPr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1" i="0">
                <a:solidFill>
                  <a:srgbClr val="586330"/>
                </a:solidFill>
                <a:latin typeface="Outfit"/>
              </a:rPr>
              <a:t>Refersols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4732768" y="932688"/>
            <a:ext cx="1298448" cy="310896"/>
          </a:xfrm>
          <a:prstGeom prst="triangle">
            <a:avLst/>
          </a:prstGeom>
          <a:solidFill>
            <a:srgbClr val="5863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87632" y="1243584"/>
            <a:ext cx="1188719" cy="749808"/>
          </a:xfrm>
          <a:prstGeom prst="rect">
            <a:avLst/>
          </a:prstGeom>
          <a:solidFill>
            <a:srgbClr val="D8E6A6"/>
          </a:solidFill>
          <a:ln w="15875">
            <a:solidFill>
              <a:srgbClr val="586330"/>
            </a:solidFill>
          </a:ln>
          <a:effectLst/>
        </p:spPr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1" i="0">
                <a:solidFill>
                  <a:srgbClr val="586330"/>
                </a:solidFill>
                <a:latin typeface="Outfit"/>
              </a:rPr>
              <a:t>Secteur privé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6160752" y="932688"/>
            <a:ext cx="1298448" cy="310896"/>
          </a:xfrm>
          <a:prstGeom prst="triangle">
            <a:avLst/>
          </a:prstGeom>
          <a:solidFill>
            <a:srgbClr val="8850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5616" y="1243584"/>
            <a:ext cx="1188719" cy="749808"/>
          </a:xfrm>
          <a:prstGeom prst="rect">
            <a:avLst/>
          </a:prstGeom>
          <a:solidFill>
            <a:srgbClr val="F5EDF2"/>
          </a:solidFill>
          <a:ln w="15875">
            <a:solidFill>
              <a:srgbClr val="885060"/>
            </a:solidFill>
          </a:ln>
          <a:effectLst/>
        </p:spPr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1" i="0">
                <a:solidFill>
                  <a:srgbClr val="885060"/>
                </a:solidFill>
                <a:latin typeface="Outfit"/>
              </a:rPr>
              <a:t>Sols et Art</a:t>
            </a:r>
          </a:p>
        </p:txBody>
      </p:sp>
      <p:sp>
        <p:nvSpPr>
          <p:cNvPr id="14" name="Isosceles Triangle 13"/>
          <p:cNvSpPr/>
          <p:nvPr/>
        </p:nvSpPr>
        <p:spPr>
          <a:xfrm>
            <a:off x="7588737" y="932688"/>
            <a:ext cx="1298448" cy="310896"/>
          </a:xfrm>
          <a:prstGeom prst="triangle">
            <a:avLst/>
          </a:prstGeom>
          <a:solidFill>
            <a:srgbClr val="8C71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43601" y="1243584"/>
            <a:ext cx="1188719" cy="749808"/>
          </a:xfrm>
          <a:prstGeom prst="rect">
            <a:avLst/>
          </a:prstGeom>
          <a:solidFill>
            <a:srgbClr val="F3EFEC"/>
          </a:solidFill>
          <a:ln w="15875">
            <a:solidFill>
              <a:srgbClr val="8C7166"/>
            </a:solidFill>
          </a:ln>
          <a:effectLst/>
        </p:spPr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1" i="0">
                <a:solidFill>
                  <a:srgbClr val="8C7166"/>
                </a:solidFill>
                <a:latin typeface="Outfit"/>
              </a:rPr>
              <a:t>AFES Communication</a:t>
            </a:r>
          </a:p>
        </p:txBody>
      </p:sp>
      <p:sp>
        <p:nvSpPr>
          <p:cNvPr id="16" name="Isosceles Triangle 15"/>
          <p:cNvSpPr/>
          <p:nvPr/>
        </p:nvSpPr>
        <p:spPr>
          <a:xfrm>
            <a:off x="9016721" y="932688"/>
            <a:ext cx="1298448" cy="310896"/>
          </a:xfrm>
          <a:prstGeom prst="triangle">
            <a:avLst/>
          </a:prstGeom>
          <a:solidFill>
            <a:srgbClr val="8C71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1585" y="1243584"/>
            <a:ext cx="1188719" cy="749808"/>
          </a:xfrm>
          <a:prstGeom prst="rect">
            <a:avLst/>
          </a:prstGeom>
          <a:solidFill>
            <a:srgbClr val="F3EFEC"/>
          </a:solidFill>
          <a:ln w="15875">
            <a:solidFill>
              <a:srgbClr val="8C7166"/>
            </a:solidFill>
          </a:ln>
          <a:effectLst/>
        </p:spPr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1" i="0">
                <a:solidFill>
                  <a:srgbClr val="8C7166"/>
                </a:solidFill>
                <a:latin typeface="Outfit"/>
              </a:rPr>
              <a:t>AFES Administrateurs</a:t>
            </a:r>
          </a:p>
        </p:txBody>
      </p:sp>
      <p:sp>
        <p:nvSpPr>
          <p:cNvPr id="18" name="Isosceles Triangle 17"/>
          <p:cNvSpPr/>
          <p:nvPr/>
        </p:nvSpPr>
        <p:spPr>
          <a:xfrm>
            <a:off x="10444705" y="932688"/>
            <a:ext cx="1298448" cy="310896"/>
          </a:xfrm>
          <a:prstGeom prst="triangle">
            <a:avLst/>
          </a:prstGeom>
          <a:solidFill>
            <a:srgbClr val="5863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99569" y="1243584"/>
            <a:ext cx="1188719" cy="749808"/>
          </a:xfrm>
          <a:prstGeom prst="rect">
            <a:avLst/>
          </a:prstGeom>
          <a:solidFill>
            <a:srgbClr val="DBE9A9"/>
          </a:solidFill>
          <a:ln w="15875">
            <a:solidFill>
              <a:srgbClr val="586330"/>
            </a:solidFill>
          </a:ln>
          <a:effectLst/>
        </p:spPr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1" i="0">
                <a:solidFill>
                  <a:srgbClr val="586330"/>
                </a:solidFill>
                <a:latin typeface="Outfit"/>
              </a:rPr>
              <a:t>Zones humides</a:t>
            </a:r>
          </a:p>
        </p:txBody>
      </p:sp>
      <p:sp>
        <p:nvSpPr>
          <p:cNvPr id="20" name="Isosceles Triangle 19"/>
          <p:cNvSpPr/>
          <p:nvPr/>
        </p:nvSpPr>
        <p:spPr>
          <a:xfrm>
            <a:off x="502920" y="2331720"/>
            <a:ext cx="1609344" cy="365760"/>
          </a:xfrm>
          <a:prstGeom prst="triangle">
            <a:avLst/>
          </a:prstGeom>
          <a:solidFill>
            <a:srgbClr val="9C3F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7784" y="2697479"/>
            <a:ext cx="1499616" cy="932688"/>
          </a:xfrm>
          <a:prstGeom prst="rect">
            <a:avLst/>
          </a:prstGeom>
          <a:solidFill>
            <a:srgbClr val="FFDBCC"/>
          </a:solidFill>
          <a:ln w="15875">
            <a:solidFill>
              <a:srgbClr val="9C3F00"/>
            </a:solidFill>
          </a:ln>
          <a:effectLst/>
        </p:spPr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 i="0">
                <a:solidFill>
                  <a:srgbClr val="9C3F00"/>
                </a:solidFill>
                <a:latin typeface="Outfit"/>
              </a:rPr>
              <a:t>Fresque du Sol</a:t>
            </a:r>
          </a:p>
        </p:txBody>
      </p:sp>
      <p:sp>
        <p:nvSpPr>
          <p:cNvPr id="22" name="Isosceles Triangle 21"/>
          <p:cNvSpPr/>
          <p:nvPr/>
        </p:nvSpPr>
        <p:spPr>
          <a:xfrm>
            <a:off x="2240280" y="2331720"/>
            <a:ext cx="1609344" cy="365760"/>
          </a:xfrm>
          <a:prstGeom prst="triangle">
            <a:avLst/>
          </a:prstGeom>
          <a:solidFill>
            <a:srgbClr val="5863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95144" y="2697479"/>
            <a:ext cx="1499616" cy="932688"/>
          </a:xfrm>
          <a:prstGeom prst="rect">
            <a:avLst/>
          </a:prstGeom>
          <a:solidFill>
            <a:srgbClr val="DBE9A9"/>
          </a:solidFill>
          <a:ln w="15875">
            <a:solidFill>
              <a:srgbClr val="586330"/>
            </a:solidFill>
          </a:ln>
          <a:effectLst/>
        </p:spPr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 i="0">
                <a:solidFill>
                  <a:srgbClr val="586330"/>
                </a:solidFill>
                <a:latin typeface="Outfit"/>
              </a:rPr>
              <a:t>Sols Forestiers</a:t>
            </a:r>
          </a:p>
        </p:txBody>
      </p:sp>
      <p:sp>
        <p:nvSpPr>
          <p:cNvPr id="24" name="Isosceles Triangle 23"/>
          <p:cNvSpPr/>
          <p:nvPr/>
        </p:nvSpPr>
        <p:spPr>
          <a:xfrm>
            <a:off x="8366760" y="2331720"/>
            <a:ext cx="1609344" cy="365760"/>
          </a:xfrm>
          <a:prstGeom prst="triangle">
            <a:avLst/>
          </a:prstGeom>
          <a:solidFill>
            <a:srgbClr val="5863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21624" y="2697479"/>
            <a:ext cx="1499616" cy="932688"/>
          </a:xfrm>
          <a:prstGeom prst="rect">
            <a:avLst/>
          </a:prstGeom>
          <a:solidFill>
            <a:srgbClr val="DBE9A9"/>
          </a:solidFill>
          <a:ln w="15875">
            <a:solidFill>
              <a:srgbClr val="586330"/>
            </a:solidFill>
          </a:ln>
          <a:effectLst/>
        </p:spPr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 i="0">
                <a:solidFill>
                  <a:srgbClr val="586330"/>
                </a:solidFill>
                <a:latin typeface="Outfit"/>
              </a:rPr>
              <a:t>SRP Sols</a:t>
            </a:r>
          </a:p>
        </p:txBody>
      </p:sp>
      <p:sp>
        <p:nvSpPr>
          <p:cNvPr id="26" name="Isosceles Triangle 25"/>
          <p:cNvSpPr/>
          <p:nvPr/>
        </p:nvSpPr>
        <p:spPr>
          <a:xfrm>
            <a:off x="10076688" y="2331720"/>
            <a:ext cx="1609344" cy="365760"/>
          </a:xfrm>
          <a:prstGeom prst="triangle">
            <a:avLst/>
          </a:prstGeom>
          <a:solidFill>
            <a:srgbClr val="4E4E8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131552" y="2697479"/>
            <a:ext cx="1499616" cy="932688"/>
          </a:xfrm>
          <a:prstGeom prst="rect">
            <a:avLst/>
          </a:prstGeom>
          <a:solidFill>
            <a:srgbClr val="EEEEF8"/>
          </a:solidFill>
          <a:ln w="15875">
            <a:solidFill>
              <a:srgbClr val="4E4E88"/>
            </a:solidFill>
          </a:ln>
          <a:effectLst/>
        </p:spPr>
        <p:txBody>
          <a:bodyPr rtlCol="0" anchor="ctr" wrap="square" lIns="18288" rIns="18288" tIns="18288" bIns="18288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 i="0">
                <a:solidFill>
                  <a:srgbClr val="4E4E88"/>
                </a:solidFill>
                <a:latin typeface="Outfit"/>
              </a:rPr>
              <a:t>ZAN</a:t>
            </a:r>
          </a:p>
        </p:txBody>
      </p:sp>
      <p:sp>
        <p:nvSpPr>
          <p:cNvPr id="28" name="Oval 27"/>
          <p:cNvSpPr/>
          <p:nvPr/>
        </p:nvSpPr>
        <p:spPr>
          <a:xfrm>
            <a:off x="4005072" y="2240280"/>
            <a:ext cx="4187952" cy="2606040"/>
          </a:xfrm>
          <a:prstGeom prst="ellipse">
            <a:avLst/>
          </a:prstGeom>
          <a:solidFill>
            <a:srgbClr val="EAE2D8"/>
          </a:solidFill>
          <a:ln w="12700">
            <a:solidFill>
              <a:srgbClr val="B095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58384" y="2487168"/>
            <a:ext cx="1481328" cy="548640"/>
          </a:xfrm>
          <a:prstGeom prst="rect">
            <a:avLst/>
          </a:prstGeom>
          <a:solidFill>
            <a:srgbClr val="FDFBF9"/>
          </a:solidFill>
          <a:ln w="15875">
            <a:solidFill>
              <a:srgbClr val="B09570"/>
            </a:solidFill>
          </a:ln>
          <a:effectLst/>
        </p:spPr>
        <p:txBody>
          <a:bodyPr rtlCol="0" anchor="ctr" wrap="square" lIns="9144" rIns="9144" tIns="9144" bIns="9144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A1512"/>
                </a:solidFill>
                <a:latin typeface="Outfit"/>
              </a:rPr>
              <a:t>L'agora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B5C54"/>
                </a:solidFill>
                <a:latin typeface="Inter"/>
              </a:rPr>
              <a:t>le forum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246120"/>
            <a:ext cx="1417320" cy="548640"/>
          </a:xfrm>
          <a:prstGeom prst="rect">
            <a:avLst/>
          </a:prstGeom>
          <a:solidFill>
            <a:srgbClr val="FDFBF9"/>
          </a:solidFill>
          <a:ln w="15875">
            <a:solidFill>
              <a:srgbClr val="B09570"/>
            </a:solidFill>
          </a:ln>
          <a:effectLst/>
        </p:spPr>
        <p:txBody>
          <a:bodyPr rtlCol="0" anchor="ctr" wrap="square" lIns="9144" rIns="9144" tIns="9144" bIns="9144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A1512"/>
                </a:solidFill>
                <a:latin typeface="Outfit"/>
              </a:rPr>
              <a:t>L'atelier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B5C54"/>
                </a:solidFill>
                <a:latin typeface="Inter"/>
              </a:rPr>
              <a:t>les communs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19088" y="3246120"/>
            <a:ext cx="1572768" cy="548640"/>
          </a:xfrm>
          <a:prstGeom prst="rect">
            <a:avLst/>
          </a:prstGeom>
          <a:solidFill>
            <a:srgbClr val="FDFBF9"/>
          </a:solidFill>
          <a:ln w="15875">
            <a:solidFill>
              <a:srgbClr val="B09570"/>
            </a:solidFill>
          </a:ln>
          <a:effectLst/>
        </p:spPr>
        <p:txBody>
          <a:bodyPr rtlCol="0" anchor="ctr" wrap="square" lIns="9144" rIns="9144" tIns="9144" bIns="9144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A1512"/>
                </a:solidFill>
                <a:latin typeface="Outfit"/>
              </a:rPr>
              <a:t>La bibliothèque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B5C54"/>
                </a:solidFill>
                <a:latin typeface="Inter"/>
              </a:rPr>
              <a:t>les ressources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81728" y="4041648"/>
            <a:ext cx="1325880" cy="548640"/>
          </a:xfrm>
          <a:prstGeom prst="rect">
            <a:avLst/>
          </a:prstGeom>
          <a:solidFill>
            <a:srgbClr val="FDFBF9"/>
          </a:solidFill>
          <a:ln w="15875">
            <a:solidFill>
              <a:srgbClr val="B09570"/>
            </a:solidFill>
          </a:ln>
          <a:effectLst/>
        </p:spPr>
        <p:txBody>
          <a:bodyPr rtlCol="0" anchor="ctr" wrap="square" lIns="9144" rIns="9144" tIns="9144" bIns="9144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A1512"/>
                </a:solidFill>
                <a:latin typeface="Outfit"/>
              </a:rPr>
              <a:t>L'accueil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B5C54"/>
                </a:solidFill>
                <a:latin typeface="Inter"/>
              </a:rPr>
              <a:t>s'inscrire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041648"/>
            <a:ext cx="1417320" cy="548640"/>
          </a:xfrm>
          <a:prstGeom prst="rect">
            <a:avLst/>
          </a:prstGeom>
          <a:solidFill>
            <a:srgbClr val="FDFBF9"/>
          </a:solidFill>
          <a:ln w="15875">
            <a:solidFill>
              <a:srgbClr val="B09570"/>
            </a:solidFill>
          </a:ln>
          <a:effectLst/>
        </p:spPr>
        <p:txBody>
          <a:bodyPr rtlCol="0" anchor="ctr" wrap="square" lIns="9144" rIns="9144" tIns="9144" bIns="9144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A1512"/>
                </a:solidFill>
                <a:latin typeface="Outfit"/>
              </a:rPr>
              <a:t>Le panneau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B5C54"/>
                </a:solidFill>
                <a:latin typeface="Inter"/>
              </a:rPr>
              <a:t>les annonces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5074920"/>
            <a:ext cx="12191969" cy="713232"/>
          </a:xfrm>
          <a:prstGeom prst="rect">
            <a:avLst/>
          </a:prstGeom>
          <a:solidFill>
            <a:srgbClr val="4A37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148072"/>
            <a:ext cx="10363169" cy="27432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DFBF9"/>
                </a:solidFill>
                <a:latin typeface="Outfit"/>
              </a:rPr>
              <a:t>LE SOL - LA CHARTE E-SOL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440680"/>
            <a:ext cx="10363169" cy="256032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C4AA82"/>
                </a:solidFill>
                <a:latin typeface="Inter"/>
              </a:rPr>
              <a:t>transparence - biens communs - évolutivité - robustesse - licences ouvertes CC BY-SA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60560" y="6089904"/>
            <a:ext cx="182880" cy="182880"/>
          </a:xfrm>
          <a:prstGeom prst="rect">
            <a:avLst/>
          </a:prstGeom>
          <a:solidFill>
            <a:srgbClr val="FFDBCC"/>
          </a:solidFill>
          <a:ln w="19050">
            <a:solidFill>
              <a:srgbClr val="9C3F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07448" y="6062472"/>
            <a:ext cx="757123" cy="237744"/>
          </a:xfrm>
          <a:prstGeom prst="rect">
            <a:avLst/>
          </a:prstGeom>
          <a:noFill/>
          <a:effectLst/>
        </p:spPr>
        <p:txBody>
          <a:bodyPr wrap="non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5C54"/>
                </a:solidFill>
                <a:latin typeface="Inter"/>
              </a:rPr>
              <a:t>Formation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8891" y="6089904"/>
            <a:ext cx="182880" cy="182880"/>
          </a:xfrm>
          <a:prstGeom prst="rect">
            <a:avLst/>
          </a:prstGeom>
          <a:solidFill>
            <a:srgbClr val="DBE9A9"/>
          </a:solidFill>
          <a:ln w="19050">
            <a:solidFill>
              <a:srgbClr val="5863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85779" y="6062472"/>
            <a:ext cx="757123" cy="237744"/>
          </a:xfrm>
          <a:prstGeom prst="rect">
            <a:avLst/>
          </a:prstGeom>
          <a:noFill/>
          <a:effectLst/>
        </p:spPr>
        <p:txBody>
          <a:bodyPr wrap="non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5C54"/>
                </a:solidFill>
                <a:latin typeface="Inter"/>
              </a:rPr>
              <a:t>Recherche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7223" y="6089904"/>
            <a:ext cx="182880" cy="182880"/>
          </a:xfrm>
          <a:prstGeom prst="rect">
            <a:avLst/>
          </a:prstGeom>
          <a:solidFill>
            <a:srgbClr val="FEDCBE"/>
          </a:solidFill>
          <a:ln w="19050">
            <a:solidFill>
              <a:srgbClr val="7057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64111" y="6062472"/>
            <a:ext cx="757123" cy="237744"/>
          </a:xfrm>
          <a:prstGeom prst="rect">
            <a:avLst/>
          </a:prstGeom>
          <a:noFill/>
          <a:effectLst/>
        </p:spPr>
        <p:txBody>
          <a:bodyPr wrap="non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5C54"/>
                </a:solidFill>
                <a:latin typeface="Inter"/>
              </a:rPr>
              <a:t>Éducation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95554" y="6089904"/>
            <a:ext cx="182880" cy="182880"/>
          </a:xfrm>
          <a:prstGeom prst="rect">
            <a:avLst/>
          </a:prstGeom>
          <a:solidFill>
            <a:srgbClr val="D8E6A6"/>
          </a:solidFill>
          <a:ln w="19050">
            <a:solidFill>
              <a:srgbClr val="5863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42442" y="6062472"/>
            <a:ext cx="983894" cy="237744"/>
          </a:xfrm>
          <a:prstGeom prst="rect">
            <a:avLst/>
          </a:prstGeom>
          <a:noFill/>
          <a:effectLst/>
        </p:spPr>
        <p:txBody>
          <a:bodyPr wrap="non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5C54"/>
                </a:solidFill>
                <a:latin typeface="Inter"/>
              </a:rPr>
              <a:t>Professionnel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00656" y="6089904"/>
            <a:ext cx="182880" cy="182880"/>
          </a:xfrm>
          <a:prstGeom prst="rect">
            <a:avLst/>
          </a:prstGeom>
          <a:solidFill>
            <a:srgbClr val="EEEEF8"/>
          </a:solidFill>
          <a:ln w="19050">
            <a:solidFill>
              <a:srgbClr val="4E4E8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47544" y="6062472"/>
            <a:ext cx="757123" cy="237744"/>
          </a:xfrm>
          <a:prstGeom prst="rect">
            <a:avLst/>
          </a:prstGeom>
          <a:noFill/>
          <a:effectLst/>
        </p:spPr>
        <p:txBody>
          <a:bodyPr wrap="non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5C54"/>
                </a:solidFill>
                <a:latin typeface="Inter"/>
              </a:rPr>
              <a:t>Politique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78987" y="6089904"/>
            <a:ext cx="182880" cy="182880"/>
          </a:xfrm>
          <a:prstGeom prst="rect">
            <a:avLst/>
          </a:prstGeom>
          <a:solidFill>
            <a:srgbClr val="F5EDF2"/>
          </a:solidFill>
          <a:ln w="19050">
            <a:solidFill>
              <a:srgbClr val="88506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25875" y="6062472"/>
            <a:ext cx="643737" cy="237744"/>
          </a:xfrm>
          <a:prstGeom prst="rect">
            <a:avLst/>
          </a:prstGeom>
          <a:noFill/>
          <a:effectLst/>
        </p:spPr>
        <p:txBody>
          <a:bodyPr wrap="non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5C54"/>
                </a:solidFill>
                <a:latin typeface="Inter"/>
              </a:rPr>
              <a:t>Culture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43933" y="6089904"/>
            <a:ext cx="182880" cy="182880"/>
          </a:xfrm>
          <a:prstGeom prst="rect">
            <a:avLst/>
          </a:prstGeom>
          <a:solidFill>
            <a:srgbClr val="F3EFEC"/>
          </a:solidFill>
          <a:ln w="19050">
            <a:solidFill>
              <a:srgbClr val="8C71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90821" y="6062472"/>
            <a:ext cx="1040587" cy="237744"/>
          </a:xfrm>
          <a:prstGeom prst="rect">
            <a:avLst/>
          </a:prstGeom>
          <a:noFill/>
          <a:effectLst/>
        </p:spPr>
        <p:txBody>
          <a:bodyPr wrap="non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5C54"/>
                </a:solidFill>
                <a:latin typeface="Inter"/>
              </a:rPr>
              <a:t>Institutionnel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911809" cy="31089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9C3F00"/>
                </a:solidFill>
                <a:latin typeface="Outfit"/>
              </a:rPr>
              <a:t>LÉGENDE - COULEURS ET CORRESPONDANCES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3291840" cy="31089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A1512"/>
                </a:solidFill>
                <a:latin typeface="Outfit"/>
              </a:rPr>
              <a:t>La palette du 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292608" cy="292608"/>
          </a:xfrm>
          <a:prstGeom prst="rect">
            <a:avLst/>
          </a:prstGeom>
          <a:solidFill>
            <a:srgbClr val="9C3F00"/>
          </a:solidFill>
          <a:ln w="9525">
            <a:solidFill>
              <a:srgbClr val="C2BF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" y="1335024"/>
            <a:ext cx="2834640" cy="36576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Terre (primaire)</a:t>
            </a:r>
            <a:r>
              <a:rPr sz="850" b="0" i="0">
                <a:solidFill>
                  <a:srgbClr val="6B5C54"/>
                </a:solidFill>
                <a:latin typeface="Inter"/>
              </a:rPr>
              <a:t>   #9c3f00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10512"/>
            <a:ext cx="292608" cy="292608"/>
          </a:xfrm>
          <a:prstGeom prst="rect">
            <a:avLst/>
          </a:prstGeom>
          <a:solidFill>
            <a:srgbClr val="7A3000"/>
          </a:solidFill>
          <a:ln w="9525">
            <a:solidFill>
              <a:srgbClr val="C2BF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792224"/>
            <a:ext cx="2834640" cy="36576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Terre foncée</a:t>
            </a:r>
            <a:r>
              <a:rPr sz="850" b="0" i="0">
                <a:solidFill>
                  <a:srgbClr val="6B5C54"/>
                </a:solidFill>
                <a:latin typeface="Inter"/>
              </a:rPr>
              <a:t>   #7a3000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67712"/>
            <a:ext cx="292608" cy="292608"/>
          </a:xfrm>
          <a:prstGeom prst="rect">
            <a:avLst/>
          </a:prstGeom>
          <a:solidFill>
            <a:srgbClr val="C05814"/>
          </a:solidFill>
          <a:ln w="9525">
            <a:solidFill>
              <a:srgbClr val="C2BF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249424"/>
            <a:ext cx="2834640" cy="36576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Terre claire</a:t>
            </a:r>
            <a:r>
              <a:rPr sz="850" b="0" i="0">
                <a:solidFill>
                  <a:srgbClr val="6B5C54"/>
                </a:solidFill>
                <a:latin typeface="Inter"/>
              </a:rPr>
              <a:t>   #c05814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24912"/>
            <a:ext cx="292608" cy="292608"/>
          </a:xfrm>
          <a:prstGeom prst="rect">
            <a:avLst/>
          </a:prstGeom>
          <a:solidFill>
            <a:srgbClr val="586330"/>
          </a:solidFill>
          <a:ln w="9525">
            <a:solidFill>
              <a:srgbClr val="C2BF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2706624"/>
            <a:ext cx="2834640" cy="36576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Olive</a:t>
            </a:r>
            <a:r>
              <a:rPr sz="850" b="0" i="0">
                <a:solidFill>
                  <a:srgbClr val="6B5C54"/>
                </a:solidFill>
                <a:latin typeface="Inter"/>
              </a:rPr>
              <a:t>   #586330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82112"/>
            <a:ext cx="292608" cy="292608"/>
          </a:xfrm>
          <a:prstGeom prst="rect">
            <a:avLst/>
          </a:prstGeom>
          <a:solidFill>
            <a:srgbClr val="B09570"/>
          </a:solidFill>
          <a:ln w="9525">
            <a:solidFill>
              <a:srgbClr val="C2BF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163824"/>
            <a:ext cx="2834640" cy="36576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Bois</a:t>
            </a:r>
            <a:r>
              <a:rPr sz="850" b="0" i="0">
                <a:solidFill>
                  <a:srgbClr val="6B5C54"/>
                </a:solidFill>
                <a:latin typeface="Inter"/>
              </a:rPr>
              <a:t>   #b09570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39312"/>
            <a:ext cx="292608" cy="292608"/>
          </a:xfrm>
          <a:prstGeom prst="rect">
            <a:avLst/>
          </a:prstGeom>
          <a:solidFill>
            <a:srgbClr val="1A1512"/>
          </a:solidFill>
          <a:ln w="9525">
            <a:solidFill>
              <a:srgbClr val="C2BF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3621024"/>
            <a:ext cx="2834640" cy="36576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Texte principal</a:t>
            </a:r>
            <a:r>
              <a:rPr sz="850" b="0" i="0">
                <a:solidFill>
                  <a:srgbClr val="6B5C54"/>
                </a:solidFill>
                <a:latin typeface="Inter"/>
              </a:rPr>
              <a:t>   #1a1512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96512"/>
            <a:ext cx="292608" cy="292608"/>
          </a:xfrm>
          <a:prstGeom prst="rect">
            <a:avLst/>
          </a:prstGeom>
          <a:solidFill>
            <a:srgbClr val="6B5C54"/>
          </a:solidFill>
          <a:ln w="9525">
            <a:solidFill>
              <a:srgbClr val="C2BF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4078224"/>
            <a:ext cx="2834640" cy="36576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Texte atténué</a:t>
            </a:r>
            <a:r>
              <a:rPr sz="850" b="0" i="0">
                <a:solidFill>
                  <a:srgbClr val="6B5C54"/>
                </a:solidFill>
                <a:latin typeface="Inter"/>
              </a:rPr>
              <a:t>   #6b5c54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553712"/>
            <a:ext cx="292608" cy="292608"/>
          </a:xfrm>
          <a:prstGeom prst="rect">
            <a:avLst/>
          </a:prstGeom>
          <a:solidFill>
            <a:srgbClr val="FAF8F5"/>
          </a:solidFill>
          <a:ln w="9525">
            <a:solidFill>
              <a:srgbClr val="C2BF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535424"/>
            <a:ext cx="2834640" cy="36576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Fond crème</a:t>
            </a:r>
            <a:r>
              <a:rPr sz="850" b="0" i="0">
                <a:solidFill>
                  <a:srgbClr val="6B5C54"/>
                </a:solidFill>
                <a:latin typeface="Inter"/>
              </a:rPr>
              <a:t>   #faf8f5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868680"/>
            <a:ext cx="3657600" cy="31089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A1512"/>
                </a:solidFill>
                <a:latin typeface="Outfit"/>
              </a:rPr>
              <a:t>Les cinq niveaux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353312"/>
            <a:ext cx="530352" cy="402336"/>
          </a:xfrm>
          <a:prstGeom prst="rect">
            <a:avLst/>
          </a:prstGeom>
          <a:solidFill>
            <a:srgbClr val="F3EFEC"/>
          </a:solidFill>
          <a:ln w="25400">
            <a:solidFill>
              <a:srgbClr val="8C71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1316736"/>
            <a:ext cx="3200400" cy="31089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1 - Visiteur·euse non inscrit·e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8" y="1572768"/>
            <a:ext cx="3200400" cy="237744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5C54"/>
                </a:solidFill>
                <a:latin typeface="Inter"/>
              </a:rPr>
              <a:t>fond #f3efec, bordure #8c7166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2066543"/>
            <a:ext cx="530352" cy="402336"/>
          </a:xfrm>
          <a:prstGeom prst="rect">
            <a:avLst/>
          </a:prstGeom>
          <a:solidFill>
            <a:srgbClr val="EEEEF8"/>
          </a:solidFill>
          <a:ln w="25400">
            <a:solidFill>
              <a:srgbClr val="4E4E8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56048" y="2029967"/>
            <a:ext cx="3200400" cy="31089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2 - Membre inscrit·e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2286000"/>
            <a:ext cx="3200400" cy="237744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5C54"/>
                </a:solidFill>
                <a:latin typeface="Inter"/>
              </a:rPr>
              <a:t>fond #eeeef8, bordure #4e4e88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2779776"/>
            <a:ext cx="530352" cy="402336"/>
          </a:xfrm>
          <a:prstGeom prst="rect">
            <a:avLst/>
          </a:prstGeom>
          <a:solidFill>
            <a:srgbClr val="FFDBCC"/>
          </a:solidFill>
          <a:ln w="25400">
            <a:solidFill>
              <a:srgbClr val="9C3F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743200"/>
            <a:ext cx="3200400" cy="31089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3 - Membre d'une communauté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8" y="2999232"/>
            <a:ext cx="3200400" cy="237744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5C54"/>
                </a:solidFill>
                <a:latin typeface="Inter"/>
              </a:rPr>
              <a:t>fond #ffdbcc, bordure #9c3f00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493008"/>
            <a:ext cx="530352" cy="402336"/>
          </a:xfrm>
          <a:prstGeom prst="rect">
            <a:avLst/>
          </a:prstGeom>
          <a:solidFill>
            <a:srgbClr val="DBE9A9"/>
          </a:solidFill>
          <a:ln w="25400">
            <a:solidFill>
              <a:srgbClr val="5863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56048" y="3456432"/>
            <a:ext cx="3200400" cy="31089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4 - Animateur·rice de communauté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6048" y="3712463"/>
            <a:ext cx="3200400" cy="237744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5C54"/>
                </a:solidFill>
                <a:latin typeface="Inter"/>
              </a:rPr>
              <a:t>fond #dbe9a9, bordure #586330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4206240"/>
            <a:ext cx="530352" cy="402336"/>
          </a:xfrm>
          <a:prstGeom prst="rect">
            <a:avLst/>
          </a:prstGeom>
          <a:solidFill>
            <a:srgbClr val="9C3F00"/>
          </a:solidFill>
          <a:ln w="25400">
            <a:solidFill>
              <a:srgbClr val="7A3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6048" y="4169663"/>
            <a:ext cx="3200400" cy="31089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5 - Administrateur·rice de la plateforme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6048" y="4425696"/>
            <a:ext cx="3200400" cy="237744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B5C54"/>
                </a:solidFill>
                <a:latin typeface="Inter"/>
              </a:rPr>
              <a:t>fond #9c3f00, bordure #7a3000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868680"/>
            <a:ext cx="3474720" cy="31089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A1512"/>
                </a:solidFill>
                <a:latin typeface="Outfit"/>
              </a:rPr>
              <a:t>Les catégories de communautés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6760" y="1353312"/>
            <a:ext cx="420624" cy="310896"/>
          </a:xfrm>
          <a:prstGeom prst="rect">
            <a:avLst/>
          </a:prstGeom>
          <a:solidFill>
            <a:srgbClr val="FFDBCC"/>
          </a:solidFill>
          <a:ln w="22225">
            <a:solidFill>
              <a:srgbClr val="9C3F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5400" y="1316736"/>
            <a:ext cx="3017520" cy="27432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Formation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1536192"/>
            <a:ext cx="3017520" cy="21945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5C54"/>
                </a:solidFill>
                <a:latin typeface="Inter"/>
              </a:rPr>
              <a:t>#9c3f00 sur #ffdbcc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60" y="1865376"/>
            <a:ext cx="420624" cy="310896"/>
          </a:xfrm>
          <a:prstGeom prst="rect">
            <a:avLst/>
          </a:prstGeom>
          <a:solidFill>
            <a:srgbClr val="DBE9A9"/>
          </a:solidFill>
          <a:ln w="22225">
            <a:solidFill>
              <a:srgbClr val="5863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15400" y="1828800"/>
            <a:ext cx="3017520" cy="27432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Recherche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2048256"/>
            <a:ext cx="3017520" cy="21945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5C54"/>
                </a:solidFill>
                <a:latin typeface="Inter"/>
              </a:rPr>
              <a:t>#586330 sur #dbe9a9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66760" y="2377440"/>
            <a:ext cx="420624" cy="310896"/>
          </a:xfrm>
          <a:prstGeom prst="rect">
            <a:avLst/>
          </a:prstGeom>
          <a:solidFill>
            <a:srgbClr val="FEDCBE"/>
          </a:solidFill>
          <a:ln w="22225">
            <a:solidFill>
              <a:srgbClr val="7057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15400" y="2340864"/>
            <a:ext cx="3017520" cy="27432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Éducation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2560320"/>
            <a:ext cx="3017520" cy="21945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5C54"/>
                </a:solidFill>
                <a:latin typeface="Inter"/>
              </a:rPr>
              <a:t>#705740 sur #fedcbe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66760" y="2889504"/>
            <a:ext cx="420624" cy="310896"/>
          </a:xfrm>
          <a:prstGeom prst="rect">
            <a:avLst/>
          </a:prstGeom>
          <a:solidFill>
            <a:srgbClr val="D8E6A6"/>
          </a:solidFill>
          <a:ln w="22225">
            <a:solidFill>
              <a:srgbClr val="5863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15400" y="2852928"/>
            <a:ext cx="3017520" cy="27432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Professionnel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15400" y="3072384"/>
            <a:ext cx="3017520" cy="21945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5C54"/>
                </a:solidFill>
                <a:latin typeface="Inter"/>
              </a:rPr>
              <a:t>#586330 sur #d8e6a6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66760" y="3401568"/>
            <a:ext cx="420624" cy="310896"/>
          </a:xfrm>
          <a:prstGeom prst="rect">
            <a:avLst/>
          </a:prstGeom>
          <a:solidFill>
            <a:srgbClr val="EEEEF8"/>
          </a:solidFill>
          <a:ln w="22225">
            <a:solidFill>
              <a:srgbClr val="4E4E8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15400" y="3364992"/>
            <a:ext cx="3017520" cy="27432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Politique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400" y="3584448"/>
            <a:ext cx="3017520" cy="21945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5C54"/>
                </a:solidFill>
                <a:latin typeface="Inter"/>
              </a:rPr>
              <a:t>#4e4e88 sur #eeeef8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66760" y="3913632"/>
            <a:ext cx="420624" cy="310896"/>
          </a:xfrm>
          <a:prstGeom prst="rect">
            <a:avLst/>
          </a:prstGeom>
          <a:solidFill>
            <a:srgbClr val="F5EDF2"/>
          </a:solidFill>
          <a:ln w="22225">
            <a:solidFill>
              <a:srgbClr val="88506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15400" y="3877056"/>
            <a:ext cx="3017520" cy="27432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Culture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15400" y="4096512"/>
            <a:ext cx="3017520" cy="21945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5C54"/>
                </a:solidFill>
                <a:latin typeface="Inter"/>
              </a:rPr>
              <a:t>#885060 sur #f5edf2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66760" y="4425696"/>
            <a:ext cx="420624" cy="310896"/>
          </a:xfrm>
          <a:prstGeom prst="rect">
            <a:avLst/>
          </a:prstGeom>
          <a:solidFill>
            <a:srgbClr val="F3EFEC"/>
          </a:solidFill>
          <a:ln w="22225">
            <a:solidFill>
              <a:srgbClr val="8C71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15400" y="4389120"/>
            <a:ext cx="3017520" cy="27432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512"/>
                </a:solidFill>
                <a:latin typeface="Outfit"/>
              </a:rPr>
              <a:t>Institutionnel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15400" y="4608576"/>
            <a:ext cx="3017520" cy="219456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5C54"/>
                </a:solidFill>
                <a:latin typeface="Inter"/>
              </a:rPr>
              <a:t>#8c7166 sur #f3efec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6309360"/>
            <a:ext cx="10546049" cy="274320"/>
          </a:xfrm>
          <a:prstGeom prst="rect">
            <a:avLst/>
          </a:prstGeom>
          <a:noFill/>
          <a:effectLst/>
        </p:spPr>
        <p:txBody>
          <a:bodyPr wrap="square" anchor="t" lIns="18288" rIns="18288" tIns="18288" bIns="18288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B5C54"/>
                </a:solidFill>
                <a:latin typeface="Inter"/>
              </a:rPr>
              <a:t>Couleurs reprises des tokens CSS du site (src/components/head.html). Contenu sous licence CC BY-SA.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Schémas e-Sol</dc:title>
  <dc:subject/>
  <dc:creator>e-Sol / AFES</dc:creator>
  <cp:keywords/>
  <dc:description>Généré par scripts/build-pptx.py (dépôt e-sol-demo). CC BY-SA.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